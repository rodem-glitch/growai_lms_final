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B55729-AA33-4866-97FF-F903F1B40354}">
  <a:tblStyle styleId="{B5B55729-AA33-4866-97FF-F903F1B403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b8fac72c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b8fac72c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학생 직업정보 채용공고.png"/>
          <p:cNvPicPr preferRelativeResize="0"/>
          <p:nvPr/>
        </p:nvPicPr>
        <p:blipFill rotWithShape="1">
          <a:blip r:embed="rId3">
            <a:alphaModFix/>
          </a:blip>
          <a:srcRect b="14973" l="0" r="0" t="0"/>
          <a:stretch/>
        </p:blipFill>
        <p:spPr>
          <a:xfrm>
            <a:off x="31500" y="435325"/>
            <a:ext cx="5619049" cy="4708175"/>
          </a:xfrm>
          <a:prstGeom prst="rect">
            <a:avLst/>
          </a:prstGeom>
          <a:noFill/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55" name="Google Shape;55;p13"/>
          <p:cNvGraphicFramePr/>
          <p:nvPr/>
        </p:nvGraphicFramePr>
        <p:xfrm>
          <a:off x="31500" y="3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{B5B55729-AA33-4866-97FF-F903F1B40354}</a:tableStyleId>
              </a:tblPr>
              <a:tblGrid>
                <a:gridCol w="612550"/>
                <a:gridCol w="1900175"/>
                <a:gridCol w="476275"/>
                <a:gridCol w="2630050"/>
                <a:gridCol w="603000"/>
                <a:gridCol w="1316150"/>
              </a:tblGrid>
              <a:tr h="19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Chapter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Student Mode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Title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메인 화면&gt;</a:t>
                      </a:r>
                      <a:r>
                        <a:rPr lang="ko" sz="700">
                          <a:solidFill>
                            <a:schemeClr val="dk1"/>
                          </a:solidFill>
                        </a:rPr>
                        <a:t>미래설계</a:t>
                      </a:r>
                      <a:r>
                        <a:rPr lang="ko" sz="700"/>
                        <a:t>&gt;</a:t>
                      </a:r>
                      <a:r>
                        <a:rPr lang="ko" sz="700"/>
                        <a:t>채용공고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Page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graphicFrame>
        <p:nvGraphicFramePr>
          <p:cNvPr id="56" name="Google Shape;56;p13"/>
          <p:cNvGraphicFramePr/>
          <p:nvPr/>
        </p:nvGraphicFramePr>
        <p:xfrm>
          <a:off x="5758000" y="43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{B5B55729-AA33-4866-97FF-F903F1B40354}</a:tableStyleId>
              </a:tblPr>
              <a:tblGrid>
                <a:gridCol w="495550"/>
                <a:gridCol w="2818850"/>
              </a:tblGrid>
              <a:tr h="1937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Description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  <a:tc hMerge="1"/>
              </a:tr>
              <a:tr h="1937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API를 통한 채용 공고를 실시간으로 볼 수 있는 화면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  <a:tc hMerge="1"/>
              </a:tr>
              <a:tr h="19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1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dk1"/>
                          </a:solidFill>
                        </a:rPr>
                        <a:t>직무 분야, 근무 지역에 따라 필터링 가능함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dk1"/>
                          </a:solidFill>
                        </a:rPr>
                        <a:t>- 각 필터는 독립적으로 작동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19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2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00">
                          <a:solidFill>
                            <a:schemeClr val="dk1"/>
                          </a:solidFill>
                        </a:rPr>
                        <a:t>각 채용 정보 카드 표시 내용(API 사용)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700">
                          <a:solidFill>
                            <a:schemeClr val="dk1"/>
                          </a:solidFill>
                        </a:rPr>
                        <a:t>- 기업 로고, 채용제목, 회사명, 근무지역, 경력, 업종, 급여, 마감일자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solidFill>
                            <a:schemeClr val="dk1"/>
                          </a:solidFill>
                        </a:rPr>
                        <a:t>- 지원하기 버튼을 클릭하면 해당 </a:t>
                      </a:r>
                      <a:r>
                        <a:rPr lang="ko" sz="700"/>
                        <a:t>워크넷 채용정보 URL 연결(모바일일 시 모바일 URL)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- 하루 일정한 시간(AM 6:00)에 공고 업데이트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grpSp>
        <p:nvGrpSpPr>
          <p:cNvPr id="57" name="Google Shape;57;p13"/>
          <p:cNvGrpSpPr/>
          <p:nvPr/>
        </p:nvGrpSpPr>
        <p:grpSpPr>
          <a:xfrm>
            <a:off x="269627" y="1517253"/>
            <a:ext cx="194375" cy="175925"/>
            <a:chOff x="1555800" y="745600"/>
            <a:chExt cx="224400" cy="203100"/>
          </a:xfrm>
        </p:grpSpPr>
        <p:sp>
          <p:nvSpPr>
            <p:cNvPr id="58" name="Google Shape;58;p13"/>
            <p:cNvSpPr/>
            <p:nvPr/>
          </p:nvSpPr>
          <p:spPr>
            <a:xfrm>
              <a:off x="1577100" y="745600"/>
              <a:ext cx="203100" cy="2031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92"/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1555800" y="745600"/>
              <a:ext cx="2244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692">
                  <a:solidFill>
                    <a:schemeClr val="lt1"/>
                  </a:solidFill>
                </a:rPr>
                <a:t>1</a:t>
              </a:r>
              <a:endParaRPr sz="692">
                <a:solidFill>
                  <a:schemeClr val="lt1"/>
                </a:solidFill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269627" y="2189628"/>
            <a:ext cx="194375" cy="175925"/>
            <a:chOff x="1555800" y="745600"/>
            <a:chExt cx="224400" cy="203100"/>
          </a:xfrm>
        </p:grpSpPr>
        <p:sp>
          <p:nvSpPr>
            <p:cNvPr id="61" name="Google Shape;61;p13"/>
            <p:cNvSpPr/>
            <p:nvPr/>
          </p:nvSpPr>
          <p:spPr>
            <a:xfrm>
              <a:off x="1577100" y="745600"/>
              <a:ext cx="203100" cy="2031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92"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1555800" y="745600"/>
              <a:ext cx="2244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200" lIns="79200" spcFirstLastPara="1" rIns="79200" wrap="square" tIns="79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692">
                  <a:solidFill>
                    <a:schemeClr val="lt1"/>
                  </a:solidFill>
                </a:rPr>
                <a:t>2</a:t>
              </a:r>
              <a:endParaRPr sz="692">
                <a:solidFill>
                  <a:schemeClr val="lt1"/>
                </a:solidFill>
              </a:endParaRPr>
            </a:p>
          </p:txBody>
        </p:sp>
      </p:grpSp>
      <p:graphicFrame>
        <p:nvGraphicFramePr>
          <p:cNvPr id="63" name="Google Shape;63;p13"/>
          <p:cNvGraphicFramePr/>
          <p:nvPr/>
        </p:nvGraphicFramePr>
        <p:xfrm>
          <a:off x="5757975" y="36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{B5B55729-AA33-4866-97FF-F903F1B40354}</a:tableStyleId>
              </a:tblPr>
              <a:tblGrid>
                <a:gridCol w="396700"/>
                <a:gridCol w="1278950"/>
                <a:gridCol w="1638750"/>
              </a:tblGrid>
              <a:tr h="2937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피드백 (폴리텍) 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/>
                        <a:t>요청사항(뉴클)</a:t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</a:tr>
              <a:tr h="12056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pic>
        <p:nvPicPr>
          <p:cNvPr id="64" name="Google Shape;64;p13" title="학생 공지사항.png"/>
          <p:cNvPicPr preferRelativeResize="0"/>
          <p:nvPr/>
        </p:nvPicPr>
        <p:blipFill rotWithShape="1">
          <a:blip r:embed="rId4">
            <a:alphaModFix/>
          </a:blip>
          <a:srcRect b="96593" l="0" r="0" t="0"/>
          <a:stretch/>
        </p:blipFill>
        <p:spPr>
          <a:xfrm>
            <a:off x="31500" y="435325"/>
            <a:ext cx="5619049" cy="23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 title="학생 미래설계 진로심리검사.png"/>
          <p:cNvPicPr preferRelativeResize="0"/>
          <p:nvPr/>
        </p:nvPicPr>
        <p:blipFill rotWithShape="1">
          <a:blip r:embed="rId5">
            <a:alphaModFix/>
          </a:blip>
          <a:srcRect b="89692" l="0" r="0" t="0"/>
          <a:stretch/>
        </p:blipFill>
        <p:spPr>
          <a:xfrm>
            <a:off x="31500" y="435325"/>
            <a:ext cx="5619049" cy="71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